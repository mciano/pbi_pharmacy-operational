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lávio Mendonça de Araújo" userId="c2578100-90d3-4254-a5cc-cc0bb898f0e8" providerId="ADAL" clId="{931CC138-D09C-461E-9B36-51A2A277C3BC}"/>
    <pc:docChg chg="custSel modSld">
      <pc:chgData name="Flávio Mendonça de Araújo" userId="c2578100-90d3-4254-a5cc-cc0bb898f0e8" providerId="ADAL" clId="{931CC138-D09C-461E-9B36-51A2A277C3BC}" dt="2026-03-07T15:54:12.698" v="9" actId="478"/>
      <pc:docMkLst>
        <pc:docMk/>
      </pc:docMkLst>
      <pc:sldChg chg="delSp mod">
        <pc:chgData name="Flávio Mendonça de Araújo" userId="c2578100-90d3-4254-a5cc-cc0bb898f0e8" providerId="ADAL" clId="{931CC138-D09C-461E-9B36-51A2A277C3BC}" dt="2026-03-07T15:54:12.698" v="9" actId="478"/>
        <pc:sldMkLst>
          <pc:docMk/>
          <pc:sldMk cId="0" sldId="256"/>
        </pc:sldMkLst>
        <pc:spChg chg="del">
          <ac:chgData name="Flávio Mendonça de Araújo" userId="c2578100-90d3-4254-a5cc-cc0bb898f0e8" providerId="ADAL" clId="{931CC138-D09C-461E-9B36-51A2A277C3BC}" dt="2026-03-07T15:54:12.698" v="9" actId="478"/>
          <ac:spMkLst>
            <pc:docMk/>
            <pc:sldMk cId="0" sldId="256"/>
            <ac:spMk id="3" creationId="{00000000-0000-0000-0000-000000000000}"/>
          </ac:spMkLst>
        </pc:spChg>
      </pc:sldChg>
      <pc:sldChg chg="delSp mod">
        <pc:chgData name="Flávio Mendonça de Araújo" userId="c2578100-90d3-4254-a5cc-cc0bb898f0e8" providerId="ADAL" clId="{931CC138-D09C-461E-9B36-51A2A277C3BC}" dt="2026-03-07T15:54:05.484" v="8" actId="478"/>
        <pc:sldMkLst>
          <pc:docMk/>
          <pc:sldMk cId="0" sldId="257"/>
        </pc:sldMkLst>
        <pc:spChg chg="del">
          <ac:chgData name="Flávio Mendonça de Araújo" userId="c2578100-90d3-4254-a5cc-cc0bb898f0e8" providerId="ADAL" clId="{931CC138-D09C-461E-9B36-51A2A277C3BC}" dt="2026-03-07T15:54:05.484" v="8" actId="478"/>
          <ac:spMkLst>
            <pc:docMk/>
            <pc:sldMk cId="0" sldId="257"/>
            <ac:spMk id="3" creationId="{00000000-0000-0000-0000-000000000000}"/>
          </ac:spMkLst>
        </pc:spChg>
      </pc:sldChg>
      <pc:sldChg chg="delSp modSp mod">
        <pc:chgData name="Flávio Mendonça de Araújo" userId="c2578100-90d3-4254-a5cc-cc0bb898f0e8" providerId="ADAL" clId="{931CC138-D09C-461E-9B36-51A2A277C3BC}" dt="2026-03-07T15:54:01.142" v="7" actId="478"/>
        <pc:sldMkLst>
          <pc:docMk/>
          <pc:sldMk cId="0" sldId="258"/>
        </pc:sldMkLst>
        <pc:spChg chg="del mod">
          <ac:chgData name="Flávio Mendonça de Araújo" userId="c2578100-90d3-4254-a5cc-cc0bb898f0e8" providerId="ADAL" clId="{931CC138-D09C-461E-9B36-51A2A277C3BC}" dt="2026-03-07T15:54:01.142" v="7" actId="478"/>
          <ac:spMkLst>
            <pc:docMk/>
            <pc:sldMk cId="0" sldId="258"/>
            <ac:spMk id="3" creationId="{00000000-0000-0000-0000-000000000000}"/>
          </ac:spMkLst>
        </pc:spChg>
      </pc:sldChg>
      <pc:sldChg chg="delSp modSp mod">
        <pc:chgData name="Flávio Mendonça de Araújo" userId="c2578100-90d3-4254-a5cc-cc0bb898f0e8" providerId="ADAL" clId="{931CC138-D09C-461E-9B36-51A2A277C3BC}" dt="2026-03-07T15:53:50.774" v="4" actId="478"/>
        <pc:sldMkLst>
          <pc:docMk/>
          <pc:sldMk cId="0" sldId="259"/>
        </pc:sldMkLst>
        <pc:spChg chg="del mod">
          <ac:chgData name="Flávio Mendonça de Araújo" userId="c2578100-90d3-4254-a5cc-cc0bb898f0e8" providerId="ADAL" clId="{931CC138-D09C-461E-9B36-51A2A277C3BC}" dt="2026-03-07T15:53:50.774" v="4" actId="478"/>
          <ac:spMkLst>
            <pc:docMk/>
            <pc:sldMk cId="0" sldId="259"/>
            <ac:spMk id="3" creationId="{00000000-0000-0000-0000-000000000000}"/>
          </ac:spMkLst>
        </pc:spChg>
      </pc:sldChg>
      <pc:sldChg chg="delSp mod">
        <pc:chgData name="Flávio Mendonça de Araújo" userId="c2578100-90d3-4254-a5cc-cc0bb898f0e8" providerId="ADAL" clId="{931CC138-D09C-461E-9B36-51A2A277C3BC}" dt="2026-03-07T15:53:37.276" v="0" actId="478"/>
        <pc:sldMkLst>
          <pc:docMk/>
          <pc:sldMk cId="0" sldId="260"/>
        </pc:sldMkLst>
        <pc:spChg chg="del">
          <ac:chgData name="Flávio Mendonça de Araújo" userId="c2578100-90d3-4254-a5cc-cc0bb898f0e8" providerId="ADAL" clId="{931CC138-D09C-461E-9B36-51A2A277C3BC}" dt="2026-03-07T15:53:37.276" v="0" actId="478"/>
          <ac:spMkLst>
            <pc:docMk/>
            <pc:sldMk cId="0" sldId="260"/>
            <ac:spMk id="3" creationId="{00000000-0000-0000-0000-000000000000}"/>
          </ac:spMkLst>
        </pc:spChg>
      </pc:sldChg>
      <pc:sldChg chg="delSp modSp mod">
        <pc:chgData name="Flávio Mendonça de Araújo" userId="c2578100-90d3-4254-a5cc-cc0bb898f0e8" providerId="ADAL" clId="{931CC138-D09C-461E-9B36-51A2A277C3BC}" dt="2026-03-07T15:53:44.337" v="2" actId="478"/>
        <pc:sldMkLst>
          <pc:docMk/>
          <pc:sldMk cId="0" sldId="261"/>
        </pc:sldMkLst>
        <pc:spChg chg="del mod">
          <ac:chgData name="Flávio Mendonça de Araújo" userId="c2578100-90d3-4254-a5cc-cc0bb898f0e8" providerId="ADAL" clId="{931CC138-D09C-461E-9B36-51A2A277C3BC}" dt="2026-03-07T15:53:44.337" v="2" actId="478"/>
          <ac:spMkLst>
            <pc:docMk/>
            <pc:sldMk cId="0" sldId="261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59501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502920" y="1005840"/>
            <a:ext cx="5577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Diagnóstico Comercial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 Farma Xperiun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30352" y="226771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570"/>
                </a:solidFill>
              </a:rPr>
              <a:t>Receita, margem, metas e prioridades de execução para a diretoria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629400" y="1051560"/>
            <a:ext cx="4892040" cy="2880360"/>
          </a:xfrm>
          <a:prstGeom prst="roundRect">
            <a:avLst>
              <a:gd name="adj" fmla="val 2540"/>
            </a:avLst>
          </a:prstGeom>
          <a:solidFill>
            <a:srgbClr val="F5FBF7"/>
          </a:solidFill>
          <a:ln w="12700">
            <a:solidFill>
              <a:srgbClr val="D9E2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6931152" y="132588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8B57"/>
                </a:solidFill>
              </a:rPr>
              <a:t>Mensagem central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931152" y="1645920"/>
            <a:ext cx="4023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313F"/>
                </a:solidFill>
              </a:rPr>
              <a:t>A farmácia tem escala e rentabilidade, mas a execução mensal é instável.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2313F"/>
                </a:solidFill>
              </a:rPr>
              <a:t>O maior potencial de ganho está em proteger o mix que gera lucro, revisar categorias de baixa margem e monitorar a meta antes do fechamento.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949440" y="342900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570"/>
                </a:solidFill>
              </a:rPr>
              <a:t>6 slides | leitura executiva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411480" y="329184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Panorama executivo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" y="713232"/>
            <a:ext cx="9601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Visão consolidada do negócio e o principal sinal de alerta gerencial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105156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F7FBF8"/>
          </a:solidFill>
          <a:ln w="12700">
            <a:solidFill>
              <a:srgbClr val="D9E2F3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640080" y="1161288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B6570"/>
                </a:solidFill>
              </a:rPr>
              <a:t>Receita total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40080" y="1362456"/>
            <a:ext cx="1691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E8B57"/>
                </a:solidFill>
              </a:rPr>
              <a:t>R$ 2,31 mi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651760" y="105156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F7FBF8"/>
          </a:solidFill>
          <a:ln w="12700">
            <a:solidFill>
              <a:srgbClr val="D9E2F3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2788920" y="1161288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B6570"/>
                </a:solidFill>
              </a:rPr>
              <a:t>Lucro total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788920" y="1362456"/>
            <a:ext cx="1691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E8B57"/>
                </a:solidFill>
              </a:rPr>
              <a:t>R$ 671,9 mil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800600" y="1051560"/>
            <a:ext cx="1691640" cy="914400"/>
          </a:xfrm>
          <a:prstGeom prst="roundRect">
            <a:avLst>
              <a:gd name="adj" fmla="val 8000"/>
            </a:avLst>
          </a:prstGeom>
          <a:solidFill>
            <a:srgbClr val="F7FBF8"/>
          </a:solidFill>
          <a:ln w="12700">
            <a:solidFill>
              <a:srgbClr val="D9E2F3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4937760" y="1161288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B6570"/>
                </a:solidFill>
              </a:rPr>
              <a:t>Margem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937760" y="1362456"/>
            <a:ext cx="1417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E8B57"/>
                </a:solidFill>
              </a:rPr>
              <a:t>29,04%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675120" y="1051560"/>
            <a:ext cx="1691640" cy="914400"/>
          </a:xfrm>
          <a:prstGeom prst="roundRect">
            <a:avLst>
              <a:gd name="adj" fmla="val 8000"/>
            </a:avLst>
          </a:prstGeom>
          <a:solidFill>
            <a:srgbClr val="F7FBF8"/>
          </a:solidFill>
          <a:ln w="12700">
            <a:solidFill>
              <a:srgbClr val="D9E2F3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6812280" y="1161288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B6570"/>
                </a:solidFill>
              </a:rPr>
              <a:t>Ticket médio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812280" y="1362456"/>
            <a:ext cx="1417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E8B57"/>
                </a:solidFill>
              </a:rPr>
              <a:t>R$ 27,09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8549640" y="1051560"/>
            <a:ext cx="3063240" cy="914400"/>
          </a:xfrm>
          <a:prstGeom prst="roundRect">
            <a:avLst>
              <a:gd name="adj" fmla="val 8000"/>
            </a:avLst>
          </a:prstGeom>
          <a:solidFill>
            <a:srgbClr val="F7FBF8"/>
          </a:solidFill>
          <a:ln w="12700">
            <a:solidFill>
              <a:srgbClr val="D9E2F3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8686800" y="1161288"/>
            <a:ext cx="2788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B6570"/>
                </a:solidFill>
              </a:rPr>
              <a:t>Meta batida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686800" y="1362456"/>
            <a:ext cx="2788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4E79"/>
                </a:solidFill>
              </a:rPr>
              <a:t>31 de 69 meses</a:t>
            </a:r>
            <a:endParaRPr lang="en-US" sz="2000" dirty="0"/>
          </a:p>
        </p:txBody>
      </p:sp>
      <p:pic>
        <p:nvPicPr>
          <p:cNvPr id="21" name="Image 0" descr="/mnt/data/farma_project/charts/receita_met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485505"/>
            <a:ext cx="6400800" cy="2618509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7315200" y="2240280"/>
            <a:ext cx="4160520" cy="3108960"/>
          </a:xfrm>
          <a:prstGeom prst="roundRect">
            <a:avLst>
              <a:gd name="adj" fmla="val 1765"/>
            </a:avLst>
          </a:prstGeom>
          <a:solidFill>
            <a:srgbClr val="F8FBFD"/>
          </a:solidFill>
          <a:ln w="12700">
            <a:solidFill>
              <a:srgbClr val="D9E2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0"/>
          <p:cNvSpPr/>
          <p:nvPr/>
        </p:nvSpPr>
        <p:spPr>
          <a:xfrm>
            <a:off x="7479792" y="2350008"/>
            <a:ext cx="3831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313F"/>
                </a:solidFill>
              </a:rPr>
              <a:t>Leitura executiva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7479792" y="2624328"/>
            <a:ext cx="3867912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20" dirty="0">
                <a:solidFill>
                  <a:srgbClr val="22313F"/>
                </a:solidFill>
              </a:rPr>
              <a:t>• A operação é lucrativa e gerou R$ 671,9 mil no período analisado.
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22313F"/>
                </a:solidFill>
              </a:rPr>
              <a:t>• O problema não é escala; é consistência. A meta foi superada em apenas 44,9% dos meses com meta definida.
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22313F"/>
                </a:solidFill>
              </a:rPr>
              <a:t>• O atingimento médio de 98,52% sugere que pequenos desvios recorrentes estão impedindo o fechamento acima do objetivo.</a:t>
            </a:r>
            <a:endParaRPr lang="en-US" sz="11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411480" y="329184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O que sustenta o negócio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" y="713232"/>
            <a:ext cx="9601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Receita e lucro não vêm do mesmo lugar — e essa diferença precisa guiar a decisão comercial</a:t>
            </a:r>
            <a:endParaRPr lang="en-US" sz="1050" dirty="0"/>
          </a:p>
        </p:txBody>
      </p:sp>
      <p:pic>
        <p:nvPicPr>
          <p:cNvPr id="6" name="Image 0" descr="/mnt/data/farma_project/charts/receita_grup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4417" y="1097280"/>
            <a:ext cx="4203365" cy="2194560"/>
          </a:xfrm>
          <a:prstGeom prst="rect">
            <a:avLst/>
          </a:prstGeom>
        </p:spPr>
      </p:pic>
      <p:pic>
        <p:nvPicPr>
          <p:cNvPr id="7" name="Image 1" descr="/mnt/data/farma_project/charts/margem_grup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4041" y="1097280"/>
            <a:ext cx="3914119" cy="219456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02920" y="3611880"/>
            <a:ext cx="11064240" cy="2240280"/>
          </a:xfrm>
          <a:prstGeom prst="roundRect">
            <a:avLst>
              <a:gd name="adj" fmla="val 2449"/>
            </a:avLst>
          </a:prstGeom>
          <a:solidFill>
            <a:srgbClr val="F6FAFD"/>
          </a:solidFill>
          <a:ln w="12700">
            <a:solidFill>
              <a:srgbClr val="D9E2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5"/>
          <p:cNvSpPr/>
          <p:nvPr/>
        </p:nvSpPr>
        <p:spPr>
          <a:xfrm>
            <a:off x="667512" y="3721608"/>
            <a:ext cx="10735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313F"/>
                </a:solidFill>
              </a:rPr>
              <a:t>Implicação para gestão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667512" y="3995928"/>
            <a:ext cx="10771632" cy="1764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20" dirty="0">
                <a:solidFill>
                  <a:srgbClr val="22313F"/>
                </a:solidFill>
              </a:rPr>
              <a:t>• Sistema Respiratório é líder em receita (31,01%), mas opera com margem de 23,90%, abaixo da média geral.
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22313F"/>
                </a:solidFill>
              </a:rPr>
              <a:t>• Analgésicos combinam quase 30% da receita com 40,15% do lucro e margem de 38,87%: é o principal motor de rentabilidade da base.
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22313F"/>
                </a:solidFill>
              </a:rPr>
              <a:t>• Sistema Nervoso também merece revisão comercial por margem de 23,15%.</a:t>
            </a:r>
            <a:endParaRPr lang="en-US" sz="11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411480" y="329184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Concentração do lucro em poucos SKUs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" y="713232"/>
            <a:ext cx="9601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resultado financeiro depende de um conjunto relativamente pequeno de produtos</a:t>
            </a:r>
            <a:endParaRPr lang="en-US" sz="1050" dirty="0"/>
          </a:p>
        </p:txBody>
      </p:sp>
      <p:pic>
        <p:nvPicPr>
          <p:cNvPr id="6" name="Image 0" descr="/mnt/data/farma_project/charts/top_produtos_luc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527464"/>
            <a:ext cx="6583680" cy="3665913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315200" y="1261872"/>
            <a:ext cx="4160520" cy="1097280"/>
          </a:xfrm>
          <a:prstGeom prst="roundRect">
            <a:avLst>
              <a:gd name="adj" fmla="val 5000"/>
            </a:avLst>
          </a:prstGeom>
          <a:solidFill>
            <a:srgbClr val="FFF7EE"/>
          </a:solidFill>
          <a:ln w="12700">
            <a:solidFill>
              <a:srgbClr val="D9E2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479792" y="1371600"/>
            <a:ext cx="3831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313F"/>
                </a:solidFill>
              </a:rPr>
              <a:t>Top 3 por lucro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479792" y="1645920"/>
            <a:ext cx="38679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20" dirty="0">
                <a:solidFill>
                  <a:srgbClr val="22313F"/>
                </a:solidFill>
              </a:rPr>
              <a:t>• Novalgina 1g: R$ 52,1 mil
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22313F"/>
                </a:solidFill>
              </a:rPr>
              <a:t>• Paracetamol + Cafeína: R$ 48,9 mil
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22313F"/>
                </a:solidFill>
              </a:rPr>
              <a:t>• Formoterol 12mcg: R$ 46,2 mil</a:t>
            </a:r>
            <a:endParaRPr lang="en-US" sz="1120" dirty="0"/>
          </a:p>
        </p:txBody>
      </p:sp>
      <p:sp>
        <p:nvSpPr>
          <p:cNvPr id="10" name="Shape 7"/>
          <p:cNvSpPr/>
          <p:nvPr/>
        </p:nvSpPr>
        <p:spPr>
          <a:xfrm>
            <a:off x="7315200" y="2578608"/>
            <a:ext cx="4160520" cy="1097280"/>
          </a:xfrm>
          <a:prstGeom prst="roundRect">
            <a:avLst>
              <a:gd name="adj" fmla="val 5000"/>
            </a:avLst>
          </a:prstGeom>
          <a:solidFill>
            <a:srgbClr val="F8FBFD"/>
          </a:solidFill>
          <a:ln w="12700">
            <a:solidFill>
              <a:srgbClr val="D9E2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7479792" y="2688336"/>
            <a:ext cx="3831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313F"/>
                </a:solidFill>
              </a:rPr>
              <a:t>Risco operacional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7479792" y="2962656"/>
            <a:ext cx="38679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20" dirty="0">
                <a:solidFill>
                  <a:srgbClr val="22313F"/>
                </a:solidFill>
              </a:rPr>
              <a:t>• Os 10 produtos líderes respondem por ~55,5% do lucro total.
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22313F"/>
                </a:solidFill>
              </a:rPr>
              <a:t>• Ruptura, preço ou perda de share nesses itens afetam o resultado rapidamente.</a:t>
            </a:r>
            <a:endParaRPr lang="en-US" sz="1120" dirty="0"/>
          </a:p>
        </p:txBody>
      </p:sp>
      <p:sp>
        <p:nvSpPr>
          <p:cNvPr id="13" name="Shape 10"/>
          <p:cNvSpPr/>
          <p:nvPr/>
        </p:nvSpPr>
        <p:spPr>
          <a:xfrm>
            <a:off x="7315200" y="3895344"/>
            <a:ext cx="4160520" cy="1097280"/>
          </a:xfrm>
          <a:prstGeom prst="roundRect">
            <a:avLst>
              <a:gd name="adj" fmla="val 5000"/>
            </a:avLst>
          </a:prstGeom>
          <a:solidFill>
            <a:srgbClr val="F5FBF7"/>
          </a:solidFill>
          <a:ln w="12700">
            <a:solidFill>
              <a:srgbClr val="D9E2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1"/>
          <p:cNvSpPr/>
          <p:nvPr/>
        </p:nvSpPr>
        <p:spPr>
          <a:xfrm>
            <a:off x="7479792" y="4005072"/>
            <a:ext cx="3831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313F"/>
                </a:solidFill>
              </a:rPr>
              <a:t>Decisão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7479792" y="4279392"/>
            <a:ext cx="38679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20" dirty="0">
                <a:solidFill>
                  <a:srgbClr val="22313F"/>
                </a:solidFill>
              </a:rPr>
              <a:t>• Priorizar monitoramento de estoque e precificação dos SKUs líderes.
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22313F"/>
                </a:solidFill>
              </a:rPr>
              <a:t>• Usar esses itens como referência de mix para cada turno.</a:t>
            </a:r>
            <a:endParaRPr lang="en-US" sz="11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411480" y="329184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Como a operação se comporta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" y="713232"/>
            <a:ext cx="9601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Turno, pagamento e sazonalidade ajudam a explicar execução — mas nem todos têm o mesmo peso gerencial</a:t>
            </a:r>
            <a:endParaRPr lang="en-US" sz="1050" dirty="0"/>
          </a:p>
        </p:txBody>
      </p:sp>
      <p:pic>
        <p:nvPicPr>
          <p:cNvPr id="6" name="Image 0" descr="/mnt/data/farma_project/charts/receita_turn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1145540"/>
            <a:ext cx="3657600" cy="2235200"/>
          </a:xfrm>
          <a:prstGeom prst="rect">
            <a:avLst/>
          </a:prstGeom>
        </p:spPr>
      </p:pic>
      <p:pic>
        <p:nvPicPr>
          <p:cNvPr id="7" name="Image 1" descr="/mnt/data/farma_project/charts/pagamento_sha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1104" y="1145540"/>
            <a:ext cx="3657600" cy="2235200"/>
          </a:xfrm>
          <a:prstGeom prst="rect">
            <a:avLst/>
          </a:prstGeom>
        </p:spPr>
      </p:pic>
      <p:pic>
        <p:nvPicPr>
          <p:cNvPr id="8" name="Image 2" descr="/mnt/data/farma_project/charts/receita_media_m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3296" y="1348740"/>
            <a:ext cx="3657600" cy="1828800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502920" y="3657600"/>
            <a:ext cx="11064240" cy="1993392"/>
          </a:xfrm>
          <a:prstGeom prst="roundRect">
            <a:avLst>
              <a:gd name="adj" fmla="val 2752"/>
            </a:avLst>
          </a:prstGeom>
          <a:solidFill>
            <a:srgbClr val="F8FBFD"/>
          </a:solidFill>
          <a:ln w="12700">
            <a:solidFill>
              <a:srgbClr val="D9E2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5"/>
          <p:cNvSpPr/>
          <p:nvPr/>
        </p:nvSpPr>
        <p:spPr>
          <a:xfrm>
            <a:off x="667512" y="3767328"/>
            <a:ext cx="10735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313F"/>
                </a:solidFill>
              </a:rPr>
              <a:t>Leituras acionáveis</a:t>
            </a:r>
            <a:endParaRPr lang="en-US" sz="1250" dirty="0"/>
          </a:p>
        </p:txBody>
      </p:sp>
      <p:sp>
        <p:nvSpPr>
          <p:cNvPr id="11" name="Text 6"/>
          <p:cNvSpPr/>
          <p:nvPr/>
        </p:nvSpPr>
        <p:spPr>
          <a:xfrm>
            <a:off x="667512" y="4041648"/>
            <a:ext cx="10771632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20" dirty="0">
                <a:solidFill>
                  <a:srgbClr val="22313F"/>
                </a:solidFill>
              </a:rPr>
              <a:t>• Manhã concentra mais receita (35,81%), mas a noite entrega maior ticket médio (R$ 28,77) e maior margem (29,29%).
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22313F"/>
                </a:solidFill>
              </a:rPr>
              <a:t>• PIX lidera a receita (30,56%), porém a forma de pagamento quase não altera margem; o impacto gerencial é baixo frente ao efeito do mix.
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22313F"/>
                </a:solidFill>
              </a:rPr>
              <a:t>• Janeiro, outubro e dezembro são os meses mais fortes na média histórica; junho a agosto formam o vale da série.</a:t>
            </a:r>
            <a:endParaRPr lang="en-US" sz="11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411480" y="329184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Recomendações prioritárias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" y="713232"/>
            <a:ext cx="9601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Próximos passos para aumentar previsibilidade e qualidade de margem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94360" y="1508760"/>
            <a:ext cx="1691640" cy="3611880"/>
          </a:xfrm>
          <a:prstGeom prst="roundRect">
            <a:avLst>
              <a:gd name="adj" fmla="val 3243"/>
            </a:avLst>
          </a:prstGeom>
          <a:solidFill>
            <a:srgbClr val="F5FBF7"/>
          </a:solidFill>
          <a:ln w="12700">
            <a:solidFill>
              <a:srgbClr val="D9E2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704088" y="1719072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4E79"/>
                </a:solidFill>
              </a:rPr>
              <a:t>1. Proteger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F4E79"/>
                </a:solidFill>
              </a:rPr>
              <a:t>Analgésicos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22376" y="2542032"/>
            <a:ext cx="1426464" cy="2194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22313F"/>
                </a:solidFill>
              </a:rPr>
              <a:t>Motor principal de lucro; foco em ruptura, share e preço dos SKUs líderes.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035808" y="1508760"/>
            <a:ext cx="1691640" cy="3611880"/>
          </a:xfrm>
          <a:prstGeom prst="roundRect">
            <a:avLst>
              <a:gd name="adj" fmla="val 3243"/>
            </a:avLst>
          </a:prstGeom>
          <a:solidFill>
            <a:srgbClr val="F6FAFD"/>
          </a:solidFill>
          <a:ln w="12700">
            <a:solidFill>
              <a:srgbClr val="D9E2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3145536" y="1719072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4E79"/>
                </a:solidFill>
              </a:rPr>
              <a:t>2. Revisar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F4E79"/>
                </a:solidFill>
              </a:rPr>
              <a:t>Respiratório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163824" y="2542032"/>
            <a:ext cx="1426464" cy="2194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22313F"/>
                </a:solidFill>
              </a:rPr>
              <a:t>Receita alta com margem abaixo da média pede revisão de preço e papel promocional.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0" y="1508760"/>
            <a:ext cx="1691640" cy="3611880"/>
          </a:xfrm>
          <a:prstGeom prst="roundRect">
            <a:avLst>
              <a:gd name="adj" fmla="val 3243"/>
            </a:avLst>
          </a:prstGeom>
          <a:solidFill>
            <a:srgbClr val="FFF7EE"/>
          </a:solidFill>
          <a:ln w="12700">
            <a:solidFill>
              <a:srgbClr val="D9E2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5596128" y="1719072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4E79"/>
                </a:solidFill>
              </a:rPr>
              <a:t>3. Acompanhar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F4E79"/>
                </a:solidFill>
              </a:rPr>
              <a:t>meta semanal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614416" y="2542032"/>
            <a:ext cx="1426464" cy="2194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22313F"/>
                </a:solidFill>
              </a:rPr>
              <a:t>Trocar leitura de fechamento por farol intramensal de gap para agir antes do fim do mês.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936992" y="1508760"/>
            <a:ext cx="1691640" cy="3611880"/>
          </a:xfrm>
          <a:prstGeom prst="roundRect">
            <a:avLst>
              <a:gd name="adj" fmla="val 3243"/>
            </a:avLst>
          </a:prstGeom>
          <a:solidFill>
            <a:srgbClr val="F5FBF7"/>
          </a:solidFill>
          <a:ln w="12700">
            <a:solidFill>
              <a:srgbClr val="D9E2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8046720" y="1719072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4E79"/>
                </a:solidFill>
              </a:rPr>
              <a:t>4. Expandir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F4E79"/>
                </a:solidFill>
              </a:rPr>
              <a:t>cesta à noite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065008" y="2542032"/>
            <a:ext cx="1426464" cy="2194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22313F"/>
                </a:solidFill>
              </a:rPr>
              <a:t>Maior ticket e margem sugerem espaço para cross-sell e venda de cesta completa.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10387584" y="1508760"/>
            <a:ext cx="1691640" cy="3611880"/>
          </a:xfrm>
          <a:prstGeom prst="roundRect">
            <a:avLst>
              <a:gd name="adj" fmla="val 3243"/>
            </a:avLst>
          </a:prstGeom>
          <a:solidFill>
            <a:srgbClr val="F6FAFD"/>
          </a:solidFill>
          <a:ln w="12700">
            <a:solidFill>
              <a:srgbClr val="D9E2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10497312" y="1719072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4E79"/>
                </a:solidFill>
              </a:rPr>
              <a:t>5. Planejar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F4E79"/>
                </a:solidFill>
              </a:rPr>
              <a:t>sazonalidade real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515600" y="2542032"/>
            <a:ext cx="1426464" cy="2194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22313F"/>
                </a:solidFill>
              </a:rPr>
              <a:t>Usar histórico observado para estoque e campanha; evitar suposições de mercado.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94360" y="5413248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8B57"/>
                </a:solidFill>
              </a:rPr>
              <a:t>Síntese final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920240" y="5358384"/>
            <a:ext cx="9601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2313F"/>
                </a:solidFill>
              </a:rPr>
              <a:t>A Farma Xperiun já vende com escala. O próximo salto vem de governar melhor o mix que gera lucro, corrigir categorias com margem pressionada e transformar meta em rotina de acompanhamento contínuo.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629</Words>
  <Application>Microsoft Office PowerPoint</Application>
  <PresentationFormat>Widescreen</PresentationFormat>
  <Paragraphs>73</Paragraphs>
  <Slides>6</Slides>
  <Notes>6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Diagnóstico Comercial da Farma Xperiun</dc:title>
  <dc:subject>Farma Xperiun - Apresentação Executiva</dc:subject>
  <dc:creator>OpenAI</dc:creator>
  <cp:lastModifiedBy>Flávio Mendonça de Araújo</cp:lastModifiedBy>
  <cp:revision>1</cp:revision>
  <dcterms:created xsi:type="dcterms:W3CDTF">2026-03-07T15:47:49Z</dcterms:created>
  <dcterms:modified xsi:type="dcterms:W3CDTF">2026-03-07T15:54:13Z</dcterms:modified>
</cp:coreProperties>
</file>